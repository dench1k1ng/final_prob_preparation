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ontserrat Bold" charset="1" panose="000008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Semi-Bold" charset="1" panose="000007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248356"/>
            <a:ext cx="15430500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4"/>
              </a:lnSpc>
            </a:pPr>
            <a:r>
              <a:rPr lang="en-US" sz="81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Chapter 8</a:t>
            </a:r>
          </a:p>
          <a:p>
            <a:pPr algn="ctr">
              <a:lnSpc>
                <a:spcPts val="11374"/>
              </a:lnSpc>
              <a:spcBef>
                <a:spcPct val="0"/>
              </a:spcBef>
            </a:pPr>
            <a:r>
              <a:rPr lang="en-US" b="true" sz="81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Fundamental Sampling Distributions</a:t>
            </a:r>
          </a:p>
          <a:p>
            <a:pPr algn="ctr">
              <a:lnSpc>
                <a:spcPts val="11374"/>
              </a:lnSpc>
              <a:spcBef>
                <a:spcPct val="0"/>
              </a:spcBef>
            </a:pPr>
            <a:r>
              <a:rPr lang="en-US" b="true" sz="812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and Data Descriptions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810555"/>
            <a:ext cx="154305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this chapter is critical: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8613" y="4617099"/>
            <a:ext cx="11870774" cy="250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36314" indent="-518157" lvl="1">
              <a:lnSpc>
                <a:spcPts val="671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Foundation of confidence intervals</a:t>
            </a:r>
          </a:p>
          <a:p>
            <a:pPr algn="ctr" marL="1036314" indent="-518157" lvl="1">
              <a:lnSpc>
                <a:spcPts val="6719"/>
              </a:lnSpc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Foundation of hypothesis testing</a:t>
            </a:r>
          </a:p>
          <a:p>
            <a:pPr algn="ctr" marL="1036314" indent="-518157" lvl="1">
              <a:lnSpc>
                <a:spcPts val="6719"/>
              </a:lnSpc>
              <a:spcBef>
                <a:spcPct val="0"/>
              </a:spcBef>
              <a:buFont typeface="Arial"/>
              <a:buChar char="•"/>
            </a:pPr>
            <a:r>
              <a:rPr lang="en-US" sz="4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Core of modern data science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0581" y="1124308"/>
            <a:ext cx="1156683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Big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Idea of the Chapter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30102" y="3315237"/>
            <a:ext cx="13118362" cy="434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</a:pPr>
            <a:r>
              <a:rPr lang="en-US" sz="35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real life:</a:t>
            </a:r>
          </a:p>
          <a:p>
            <a:pPr algn="l" marL="756405" indent="-378203" lvl="1">
              <a:lnSpc>
                <a:spcPts val="4904"/>
              </a:lnSpc>
              <a:spcBef>
                <a:spcPct val="0"/>
              </a:spcBef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never know the</a:t>
            </a:r>
            <a:r>
              <a:rPr lang="en-US" sz="35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population parameter.</a:t>
            </a:r>
          </a:p>
          <a:p>
            <a:pPr algn="l" marL="756405" indent="-378203" lvl="1">
              <a:lnSpc>
                <a:spcPts val="4904"/>
              </a:lnSpc>
              <a:spcBef>
                <a:spcPct val="0"/>
              </a:spcBef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only observe a sample.</a:t>
            </a:r>
          </a:p>
          <a:p>
            <a:pPr algn="l" marL="0" indent="0" lvl="0">
              <a:lnSpc>
                <a:spcPts val="4904"/>
              </a:lnSpc>
              <a:spcBef>
                <a:spcPct val="0"/>
              </a:spcBef>
            </a:pPr>
            <a:r>
              <a:rPr lang="en-US" sz="35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key question:</a:t>
            </a:r>
          </a:p>
          <a:p>
            <a:pPr algn="l" marL="0" indent="0" lvl="0">
              <a:lnSpc>
                <a:spcPts val="4904"/>
              </a:lnSpc>
              <a:spcBef>
                <a:spcPct val="0"/>
              </a:spcBef>
            </a:pPr>
            <a:r>
              <a:rPr lang="en-US" b="true" sz="35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does a statistic behave across different samples?</a:t>
            </a:r>
          </a:p>
          <a:p>
            <a:pPr algn="l" marL="0" indent="0" lvl="0">
              <a:lnSpc>
                <a:spcPts val="4904"/>
              </a:lnSpc>
              <a:spcBef>
                <a:spcPct val="0"/>
              </a:spcBef>
            </a:pPr>
            <a:r>
              <a:rPr lang="en-US" sz="35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That behavior is called:</a:t>
            </a:r>
          </a:p>
          <a:p>
            <a:pPr algn="l" marL="0" indent="0" lvl="0">
              <a:lnSpc>
                <a:spcPts val="4904"/>
              </a:lnSpc>
              <a:spcBef>
                <a:spcPct val="0"/>
              </a:spcBef>
            </a:pPr>
            <a:r>
              <a:rPr lang="en-US" b="true" sz="35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Sampling Distribution</a:t>
            </a: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29575" y="3413741"/>
            <a:ext cx="9712882" cy="4414874"/>
          </a:xfrm>
          <a:custGeom>
            <a:avLst/>
            <a:gdLst/>
            <a:ahLst/>
            <a:cxnLst/>
            <a:rect r="r" b="b" t="t" l="l"/>
            <a:pathLst>
              <a:path h="4414874" w="9712882">
                <a:moveTo>
                  <a:pt x="0" y="0"/>
                </a:moveTo>
                <a:lnTo>
                  <a:pt x="9712882" y="0"/>
                </a:lnTo>
                <a:lnTo>
                  <a:pt x="9712882" y="4414874"/>
                </a:lnTo>
                <a:lnTo>
                  <a:pt x="0" y="4414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87" t="-33773" r="-10362" b="-3808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1552" y="895350"/>
            <a:ext cx="927726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Sampling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827989"/>
            <a:ext cx="6746442" cy="2793190"/>
            <a:chOff x="0" y="0"/>
            <a:chExt cx="8995256" cy="372425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023599"/>
              <a:ext cx="8995256" cy="2700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4161" indent="-312080" lvl="1">
                <a:lnSpc>
                  <a:spcPts val="4047"/>
                </a:lnSpc>
                <a:buFont typeface="Arial"/>
                <a:buChar char="•"/>
              </a:pPr>
              <a:r>
                <a:rPr lang="en-US" sz="28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X1,X2,...,Xn</a:t>
              </a:r>
            </a:p>
            <a:p>
              <a:pPr algn="l" marL="624161" indent="-312080" lvl="1">
                <a:lnSpc>
                  <a:spcPts val="4047"/>
                </a:lnSpc>
                <a:buFont typeface="Arial"/>
                <a:buChar char="•"/>
              </a:pPr>
              <a:r>
                <a:rPr lang="en-US" sz="28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Independent</a:t>
              </a:r>
            </a:p>
            <a:p>
              <a:pPr algn="l" marL="624161" indent="-312080" lvl="1">
                <a:lnSpc>
                  <a:spcPts val="4047"/>
                </a:lnSpc>
                <a:buFont typeface="Arial"/>
                <a:buChar char="•"/>
              </a:pPr>
              <a:r>
                <a:rPr lang="en-US" sz="28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Identically distributed (i.i.d.)</a:t>
              </a:r>
            </a:p>
            <a:p>
              <a:pPr algn="l" marL="624161" indent="-312080" lvl="1">
                <a:lnSpc>
                  <a:spcPts val="4047"/>
                </a:lnSpc>
                <a:buFont typeface="Arial"/>
                <a:buChar char="•"/>
              </a:pPr>
              <a:r>
                <a:rPr lang="en-US" sz="28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From the same population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8995256" cy="769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56"/>
                </a:lnSpc>
                <a:spcBef>
                  <a:spcPct val="0"/>
                </a:spcBef>
              </a:pPr>
              <a:r>
                <a:rPr lang="en-US" b="true" sz="3469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A</a:t>
              </a:r>
              <a:r>
                <a:rPr lang="en-US" b="true" sz="3469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 random sample: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326997"/>
            <a:ext cx="7000875" cy="1831731"/>
            <a:chOff x="0" y="0"/>
            <a:chExt cx="9334500" cy="244230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064358"/>
              <a:ext cx="933450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hidden correlation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bias in variability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93345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Why</a:t>
              </a:r>
              <a:r>
                <a:rPr lang="en-US" b="true" sz="3600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 independence matters: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143528"/>
            <a:ext cx="154305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Important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Sample Statistics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4094945"/>
            <a:ext cx="13155343" cy="40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5"/>
              </a:lnSpc>
            </a:pPr>
            <a:r>
              <a:rPr lang="en-US" sz="38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study these statistics:</a:t>
            </a:r>
          </a:p>
          <a:p>
            <a:pPr algn="just" marL="838284" indent="-419142" lvl="1">
              <a:lnSpc>
                <a:spcPts val="5435"/>
              </a:lnSpc>
              <a:buAutoNum type="arabicPeriod" startAt="1"/>
            </a:pPr>
            <a:r>
              <a:rPr lang="en-US" sz="38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Sample mean X^2</a:t>
            </a:r>
          </a:p>
          <a:p>
            <a:pPr algn="just" marL="838284" indent="-419142" lvl="1">
              <a:lnSpc>
                <a:spcPts val="5435"/>
              </a:lnSpc>
              <a:buAutoNum type="arabicPeriod" startAt="1"/>
            </a:pPr>
            <a:r>
              <a:rPr lang="en-US" sz="38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Sample variance S^2</a:t>
            </a:r>
          </a:p>
          <a:p>
            <a:pPr algn="just" marL="838284" indent="-419142" lvl="1">
              <a:lnSpc>
                <a:spcPts val="5435"/>
              </a:lnSpc>
              <a:buAutoNum type="arabicPeriod" startAt="1"/>
            </a:pPr>
            <a:r>
              <a:rPr lang="en-US" sz="38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Sample proportion p^</a:t>
            </a:r>
          </a:p>
          <a:p>
            <a:pPr algn="just">
              <a:lnSpc>
                <a:spcPts val="5435"/>
              </a:lnSpc>
            </a:pPr>
          </a:p>
          <a:p>
            <a:pPr algn="just">
              <a:lnSpc>
                <a:spcPts val="5435"/>
              </a:lnSpc>
              <a:spcBef>
                <a:spcPct val="0"/>
              </a:spcBef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These</a:t>
            </a: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are random variables because samples vary.</a:t>
            </a:r>
          </a:p>
        </p:txBody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075297"/>
            <a:ext cx="10219212" cy="1617871"/>
          </a:xfrm>
          <a:custGeom>
            <a:avLst/>
            <a:gdLst/>
            <a:ahLst/>
            <a:cxnLst/>
            <a:rect r="r" b="b" t="t" l="l"/>
            <a:pathLst>
              <a:path h="1617871" w="10219212">
                <a:moveTo>
                  <a:pt x="0" y="0"/>
                </a:moveTo>
                <a:lnTo>
                  <a:pt x="10219212" y="0"/>
                </a:lnTo>
                <a:lnTo>
                  <a:pt x="10219212" y="1617871"/>
                </a:lnTo>
                <a:lnTo>
                  <a:pt x="0" y="1617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0000" y="824194"/>
            <a:ext cx="6741356" cy="8842847"/>
          </a:xfrm>
          <a:custGeom>
            <a:avLst/>
            <a:gdLst/>
            <a:ahLst/>
            <a:cxnLst/>
            <a:rect r="r" b="b" t="t" l="l"/>
            <a:pathLst>
              <a:path h="8842847" w="6741356">
                <a:moveTo>
                  <a:pt x="0" y="0"/>
                </a:moveTo>
                <a:lnTo>
                  <a:pt x="6741356" y="0"/>
                </a:lnTo>
                <a:lnTo>
                  <a:pt x="6741356" y="8842848"/>
                </a:lnTo>
                <a:lnTo>
                  <a:pt x="0" y="884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442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8750" y="1295400"/>
            <a:ext cx="851535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Sample</a:t>
            </a:r>
            <a:r>
              <a:rPr lang="en-US" sz="7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Variance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8650" y="5178943"/>
            <a:ext cx="8515350" cy="32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0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Why divide by n−1?</a:t>
            </a:r>
          </a:p>
          <a:p>
            <a:pPr algn="l">
              <a:lnSpc>
                <a:spcPts val="4305"/>
              </a:lnSpc>
            </a:pPr>
            <a:r>
              <a:rPr lang="en-US" sz="307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Because</a:t>
            </a:r>
            <a:r>
              <a:rPr lang="en-US" sz="30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 marL="663892" indent="-331946" lvl="1">
              <a:lnSpc>
                <a:spcPts val="4305"/>
              </a:lnSpc>
              <a:buFont typeface="Arial"/>
              <a:buChar char="•"/>
            </a:pPr>
            <a:r>
              <a:rPr lang="en-US" sz="30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lose 1 degree of freedom when estimating</a:t>
            </a:r>
            <a:r>
              <a:rPr lang="en-US" sz="30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mean.</a:t>
            </a:r>
          </a:p>
          <a:p>
            <a:pPr algn="l" marL="663892" indent="-331946" lvl="1">
              <a:lnSpc>
                <a:spcPts val="4305"/>
              </a:lnSpc>
              <a:buFont typeface="Arial"/>
              <a:buChar char="•"/>
            </a:pPr>
            <a:r>
              <a:rPr lang="en-US" sz="30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makes variance </a:t>
            </a:r>
            <a:r>
              <a:rPr lang="en-US" b="true" sz="307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unbiased</a:t>
            </a:r>
            <a:r>
              <a:rPr lang="en-US" sz="30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305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550847"/>
            <a:ext cx="7360758" cy="2191110"/>
          </a:xfrm>
          <a:custGeom>
            <a:avLst/>
            <a:gdLst/>
            <a:ahLst/>
            <a:cxnLst/>
            <a:rect r="r" b="b" t="t" l="l"/>
            <a:pathLst>
              <a:path h="2191110" w="7360758">
                <a:moveTo>
                  <a:pt x="0" y="0"/>
                </a:moveTo>
                <a:lnTo>
                  <a:pt x="7360758" y="0"/>
                </a:lnTo>
                <a:lnTo>
                  <a:pt x="7360758" y="2191110"/>
                </a:lnTo>
                <a:lnTo>
                  <a:pt x="0" y="219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851535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Degrees</a:t>
            </a:r>
            <a:r>
              <a:rPr lang="en-US" sz="7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of Freedom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9677" y="4521264"/>
            <a:ext cx="13410267" cy="420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0"/>
              </a:lnSpc>
            </a:pP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Intuition:</a:t>
            </a:r>
          </a:p>
          <a:p>
            <a:pPr algn="l">
              <a:lnSpc>
                <a:spcPts val="5590"/>
              </a:lnSpc>
            </a:pP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Once the mean</a:t>
            </a: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fixed, only n−1 deviations are free.</a:t>
            </a:r>
          </a:p>
          <a:p>
            <a:pPr algn="ctr">
              <a:lnSpc>
                <a:spcPts val="5590"/>
              </a:lnSpc>
            </a:pP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concept is crucial for:</a:t>
            </a:r>
          </a:p>
          <a:p>
            <a:pPr algn="l" marL="862187" indent="-431094" lvl="1">
              <a:lnSpc>
                <a:spcPts val="5590"/>
              </a:lnSpc>
              <a:buFont typeface="Arial"/>
              <a:buChar char="•"/>
            </a:pP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t-distribution</a:t>
            </a:r>
          </a:p>
          <a:p>
            <a:pPr algn="l" marL="862187" indent="-431094" lvl="1">
              <a:lnSpc>
                <a:spcPts val="5590"/>
              </a:lnSpc>
              <a:buFont typeface="Arial"/>
              <a:buChar char="•"/>
            </a:pP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Chi-square distribution</a:t>
            </a:r>
          </a:p>
          <a:p>
            <a:pPr algn="l" marL="862187" indent="-431094" lvl="1">
              <a:lnSpc>
                <a:spcPts val="5590"/>
              </a:lnSpc>
              <a:buFont typeface="Arial"/>
              <a:buChar char="•"/>
            </a:pPr>
            <a:r>
              <a:rPr lang="en-US" sz="39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F-distribution</a:t>
            </a: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7104" y="2817282"/>
            <a:ext cx="8640896" cy="6376387"/>
          </a:xfrm>
          <a:custGeom>
            <a:avLst/>
            <a:gdLst/>
            <a:ahLst/>
            <a:cxnLst/>
            <a:rect r="r" b="b" t="t" l="l"/>
            <a:pathLst>
              <a:path h="6376387" w="8640896">
                <a:moveTo>
                  <a:pt x="0" y="0"/>
                </a:moveTo>
                <a:lnTo>
                  <a:pt x="8640896" y="0"/>
                </a:lnTo>
                <a:lnTo>
                  <a:pt x="8640896" y="6376386"/>
                </a:lnTo>
                <a:lnTo>
                  <a:pt x="0" y="637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12" t="-1720" r="-8061" b="-41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9821035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Is a Sampling Distribution?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845209"/>
            <a:ext cx="8618404" cy="1953433"/>
            <a:chOff x="0" y="0"/>
            <a:chExt cx="11491205" cy="26045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3636300" cy="721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74"/>
                </a:lnSpc>
                <a:spcBef>
                  <a:spcPct val="0"/>
                </a:spcBef>
              </a:pPr>
              <a:r>
                <a:rPr lang="en-US" b="true" sz="3267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Definition: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08920"/>
              <a:ext cx="11491205" cy="1495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74"/>
                </a:lnSpc>
                <a:spcBef>
                  <a:spcPct val="0"/>
                </a:spcBef>
              </a:pPr>
              <a:r>
                <a:rPr lang="en-US" sz="32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sampling</a:t>
              </a:r>
              <a:r>
                <a:rPr lang="en-US" sz="32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distribution is</a:t>
              </a:r>
            </a:p>
            <a:p>
              <a:pPr algn="l" marL="0" indent="0" lvl="0">
                <a:lnSpc>
                  <a:spcPts val="4574"/>
                </a:lnSpc>
                <a:spcBef>
                  <a:spcPct val="0"/>
                </a:spcBef>
              </a:pPr>
              <a:r>
                <a:rPr lang="en-US" sz="3267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the probability distribution of a statistic.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246317"/>
            <a:ext cx="9559591" cy="3396063"/>
            <a:chOff x="0" y="0"/>
            <a:chExt cx="12746121" cy="452808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669581" cy="3145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66"/>
                </a:lnSpc>
              </a:pPr>
              <a:r>
                <a:rPr lang="en-US" sz="269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Important:</a:t>
              </a:r>
            </a:p>
            <a:p>
              <a:pPr algn="l">
                <a:lnSpc>
                  <a:spcPts val="3766"/>
                </a:lnSpc>
              </a:pPr>
            </a:p>
            <a:p>
              <a:pPr algn="l" marL="0" indent="0" lvl="0">
                <a:lnSpc>
                  <a:spcPts val="3766"/>
                </a:lnSpc>
                <a:spcBef>
                  <a:spcPct val="0"/>
                </a:spcBef>
              </a:pP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</a:t>
              </a: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is NOT:</a:t>
              </a:r>
            </a:p>
            <a:p>
              <a:pPr algn="l" marL="580802" indent="-290401" lvl="1">
                <a:lnSpc>
                  <a:spcPts val="376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population distribution</a:t>
              </a:r>
            </a:p>
            <a:p>
              <a:pPr algn="l" marL="580802" indent="-290401" lvl="1">
                <a:lnSpc>
                  <a:spcPts val="376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sample histogram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296078"/>
              <a:ext cx="12746121" cy="123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66"/>
                </a:lnSpc>
                <a:spcBef>
                  <a:spcPct val="0"/>
                </a:spcBef>
              </a:pP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</a:t>
              </a: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is:</a:t>
              </a:r>
            </a:p>
            <a:p>
              <a:pPr algn="l" marL="0" indent="0" lvl="0">
                <a:lnSpc>
                  <a:spcPts val="3766"/>
                </a:lnSpc>
                <a:spcBef>
                  <a:spcPct val="0"/>
                </a:spcBef>
              </a:pPr>
              <a:r>
                <a:rPr lang="en-US" sz="269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The distribution of the statistic over repeated samples.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48370" y="3234759"/>
            <a:ext cx="5998901" cy="3817483"/>
          </a:xfrm>
          <a:custGeom>
            <a:avLst/>
            <a:gdLst/>
            <a:ahLst/>
            <a:cxnLst/>
            <a:rect r="r" b="b" t="t" l="l"/>
            <a:pathLst>
              <a:path h="3817483" w="5998901">
                <a:moveTo>
                  <a:pt x="0" y="0"/>
                </a:moveTo>
                <a:lnTo>
                  <a:pt x="5998902" y="0"/>
                </a:lnTo>
                <a:lnTo>
                  <a:pt x="5998902" y="3817482"/>
                </a:lnTo>
                <a:lnTo>
                  <a:pt x="0" y="381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952500"/>
            <a:ext cx="1543050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Sampling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Distribution of the Mean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6277" y="7081890"/>
            <a:ext cx="13043089" cy="205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5"/>
              </a:lnSpc>
            </a:pPr>
            <a:r>
              <a:rPr lang="en-US" sz="3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Interpretation:</a:t>
            </a:r>
          </a:p>
          <a:p>
            <a:pPr algn="l" marL="839790" indent="-419895" lvl="1">
              <a:lnSpc>
                <a:spcPts val="5445"/>
              </a:lnSpc>
              <a:spcBef>
                <a:spcPct val="0"/>
              </a:spcBef>
              <a:buFont typeface="Arial"/>
              <a:buChar char="•"/>
            </a:pPr>
            <a:r>
              <a:rPr lang="en-US" sz="3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-US" sz="3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sample mean is unbiased.</a:t>
            </a:r>
          </a:p>
          <a:p>
            <a:pPr algn="l" marL="839790" indent="-419895" lvl="1">
              <a:lnSpc>
                <a:spcPts val="5445"/>
              </a:lnSpc>
              <a:spcBef>
                <a:spcPct val="0"/>
              </a:spcBef>
              <a:buFont typeface="Arial"/>
              <a:buChar char="•"/>
            </a:pPr>
            <a:r>
              <a:rPr lang="en-US" sz="3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Variability decreases as sample size increases.</a:t>
            </a:r>
          </a:p>
        </p:txBody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6215" y="2818234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3229" y="3776226"/>
            <a:ext cx="8160187" cy="1697133"/>
          </a:xfrm>
          <a:custGeom>
            <a:avLst/>
            <a:gdLst/>
            <a:ahLst/>
            <a:cxnLst/>
            <a:rect r="r" b="b" t="t" l="l"/>
            <a:pathLst>
              <a:path h="1697133" w="8160187">
                <a:moveTo>
                  <a:pt x="0" y="0"/>
                </a:moveTo>
                <a:lnTo>
                  <a:pt x="8160187" y="0"/>
                </a:lnTo>
                <a:lnTo>
                  <a:pt x="8160187" y="1697133"/>
                </a:lnTo>
                <a:lnTo>
                  <a:pt x="0" y="1697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95350"/>
            <a:ext cx="8533148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Standard Error of the Mean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3229" y="6266750"/>
            <a:ext cx="9052594" cy="299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338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Standard Error (SE):</a:t>
            </a:r>
          </a:p>
          <a:p>
            <a:pPr algn="l">
              <a:lnSpc>
                <a:spcPts val="4741"/>
              </a:lnSpc>
            </a:pPr>
            <a:r>
              <a:rPr lang="en-US" sz="33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Measures spread of sample means.</a:t>
            </a:r>
          </a:p>
          <a:p>
            <a:pPr algn="l">
              <a:lnSpc>
                <a:spcPts val="4741"/>
              </a:lnSpc>
            </a:pPr>
          </a:p>
          <a:p>
            <a:pPr algn="l">
              <a:lnSpc>
                <a:spcPts val="4741"/>
              </a:lnSpc>
            </a:pPr>
            <a:r>
              <a:rPr lang="en-US" sz="338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insight:</a:t>
            </a:r>
          </a:p>
          <a:p>
            <a:pPr algn="l" marL="0" indent="0" lvl="0">
              <a:lnSpc>
                <a:spcPts val="4741"/>
              </a:lnSpc>
              <a:spcBef>
                <a:spcPct val="0"/>
              </a:spcBef>
            </a:pPr>
            <a:r>
              <a:rPr lang="en-US" sz="33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Larger n → smaller SE →</a:t>
            </a:r>
            <a:r>
              <a:rPr lang="en-US" sz="33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more precision.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72223" y="4121139"/>
            <a:ext cx="7659486" cy="1702108"/>
          </a:xfrm>
          <a:custGeom>
            <a:avLst/>
            <a:gdLst/>
            <a:ahLst/>
            <a:cxnLst/>
            <a:rect r="r" b="b" t="t" l="l"/>
            <a:pathLst>
              <a:path h="1702108" w="7659486">
                <a:moveTo>
                  <a:pt x="0" y="0"/>
                </a:moveTo>
                <a:lnTo>
                  <a:pt x="7659486" y="0"/>
                </a:lnTo>
                <a:lnTo>
                  <a:pt x="7659486" y="1702108"/>
                </a:lnTo>
                <a:lnTo>
                  <a:pt x="0" y="1702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547" y="2236893"/>
            <a:ext cx="9357247" cy="5813214"/>
          </a:xfrm>
          <a:custGeom>
            <a:avLst/>
            <a:gdLst/>
            <a:ahLst/>
            <a:cxnLst/>
            <a:rect r="r" b="b" t="t" l="l"/>
            <a:pathLst>
              <a:path h="5813214" w="9357247">
                <a:moveTo>
                  <a:pt x="0" y="0"/>
                </a:moveTo>
                <a:lnTo>
                  <a:pt x="9357248" y="0"/>
                </a:lnTo>
                <a:lnTo>
                  <a:pt x="9357248" y="5813214"/>
                </a:lnTo>
                <a:lnTo>
                  <a:pt x="0" y="5813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7" t="-3056" r="-4044" b="-1248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71955" y="895350"/>
            <a:ext cx="6787345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Limit Theorem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43662" y="6479191"/>
            <a:ext cx="8716608" cy="243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5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n is large:</a:t>
            </a:r>
          </a:p>
          <a:p>
            <a:pPr algn="ctr">
              <a:lnSpc>
                <a:spcPts val="4925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distribution of X</a:t>
            </a:r>
          </a:p>
          <a:p>
            <a:pPr algn="ctr">
              <a:lnSpc>
                <a:spcPts val="4925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becomes approximately normal.</a:t>
            </a:r>
          </a:p>
          <a:p>
            <a:pPr algn="ctr">
              <a:lnSpc>
                <a:spcPts val="4925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Even if the population is NOT normal.</a:t>
            </a:r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55311" y="3788234"/>
            <a:ext cx="6572733" cy="1766241"/>
          </a:xfrm>
          <a:custGeom>
            <a:avLst/>
            <a:gdLst/>
            <a:ahLst/>
            <a:cxnLst/>
            <a:rect r="r" b="b" t="t" l="l"/>
            <a:pathLst>
              <a:path h="1766241" w="6572733">
                <a:moveTo>
                  <a:pt x="0" y="0"/>
                </a:moveTo>
                <a:lnTo>
                  <a:pt x="6572734" y="0"/>
                </a:lnTo>
                <a:lnTo>
                  <a:pt x="6572734" y="1766241"/>
                </a:lnTo>
                <a:lnTo>
                  <a:pt x="0" y="1766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1295400"/>
            <a:ext cx="154305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When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Population Is Normal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5311" y="2881589"/>
            <a:ext cx="6577378" cy="6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5"/>
              </a:lnSpc>
              <a:spcBef>
                <a:spcPct val="0"/>
              </a:spcBef>
            </a:pPr>
            <a:r>
              <a:rPr lang="en-US" sz="39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lang="en-US" sz="3996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population is normal: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6934" y="5721814"/>
            <a:ext cx="10134132" cy="353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25"/>
              </a:lnSpc>
              <a:spcBef>
                <a:spcPct val="0"/>
              </a:spcBef>
            </a:pPr>
            <a:r>
              <a:rPr lang="en-US" sz="401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</a:t>
            </a:r>
            <a:r>
              <a:rPr lang="en-US" sz="4018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holds for ANY sample size.</a:t>
            </a:r>
          </a:p>
          <a:p>
            <a:pPr algn="ctr" marL="0" indent="0" lvl="0">
              <a:lnSpc>
                <a:spcPts val="562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5625"/>
              </a:lnSpc>
              <a:spcBef>
                <a:spcPct val="0"/>
              </a:spcBef>
            </a:pPr>
            <a:r>
              <a:rPr lang="en-US" sz="4018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That allows:</a:t>
            </a:r>
          </a:p>
          <a:p>
            <a:pPr algn="l" marL="867496" indent="-433748" lvl="1">
              <a:lnSpc>
                <a:spcPts val="5625"/>
              </a:lnSpc>
              <a:spcBef>
                <a:spcPct val="0"/>
              </a:spcBef>
              <a:buFont typeface="Arial"/>
              <a:buChar char="•"/>
            </a:pPr>
            <a:r>
              <a:rPr lang="en-US" sz="4018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Exact inference</a:t>
            </a:r>
          </a:p>
          <a:p>
            <a:pPr algn="l" marL="867496" indent="-433748" lvl="1">
              <a:lnSpc>
                <a:spcPts val="5625"/>
              </a:lnSpc>
              <a:spcBef>
                <a:spcPct val="0"/>
              </a:spcBef>
              <a:buFont typeface="Arial"/>
              <a:buChar char="•"/>
            </a:pPr>
            <a:r>
              <a:rPr lang="en-US" sz="4018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Exact probabilities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06614"/>
            <a:ext cx="5766950" cy="1382162"/>
          </a:xfrm>
          <a:custGeom>
            <a:avLst/>
            <a:gdLst/>
            <a:ahLst/>
            <a:cxnLst/>
            <a:rect r="r" b="b" t="t" l="l"/>
            <a:pathLst>
              <a:path h="1382162" w="5766950">
                <a:moveTo>
                  <a:pt x="0" y="0"/>
                </a:moveTo>
                <a:lnTo>
                  <a:pt x="5766950" y="0"/>
                </a:lnTo>
                <a:lnTo>
                  <a:pt x="5766950" y="1382162"/>
                </a:lnTo>
                <a:lnTo>
                  <a:pt x="0" y="138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73484" y="2477491"/>
            <a:ext cx="9340727" cy="6608703"/>
          </a:xfrm>
          <a:custGeom>
            <a:avLst/>
            <a:gdLst/>
            <a:ahLst/>
            <a:cxnLst/>
            <a:rect r="r" b="b" t="t" l="l"/>
            <a:pathLst>
              <a:path h="6608703" w="9340727">
                <a:moveTo>
                  <a:pt x="0" y="0"/>
                </a:moveTo>
                <a:lnTo>
                  <a:pt x="9340727" y="0"/>
                </a:lnTo>
                <a:lnTo>
                  <a:pt x="9340727" y="6608702"/>
                </a:lnTo>
                <a:lnTo>
                  <a:pt x="0" y="6608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55" t="0" r="-8024" b="-51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22162"/>
            <a:ext cx="7544784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40"/>
              </a:lnSpc>
              <a:spcBef>
                <a:spcPct val="0"/>
              </a:spcBef>
            </a:pPr>
            <a:r>
              <a:rPr lang="en-US" b="true" sz="6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Sampling</a:t>
            </a:r>
            <a:r>
              <a:rPr lang="en-US" b="true" sz="6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Distribution of S²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17764"/>
            <a:ext cx="4541190" cy="5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6"/>
              </a:lnSpc>
              <a:spcBef>
                <a:spcPct val="0"/>
              </a:spcBef>
            </a:pPr>
            <a:r>
              <a:rPr lang="en-US" sz="295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lang="en-US" sz="295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population is normal: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24692"/>
            <a:ext cx="7022787" cy="313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0"/>
              </a:lnSpc>
              <a:spcBef>
                <a:spcPct val="0"/>
              </a:spcBef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</a:t>
            </a:r>
            <a:r>
              <a:rPr lang="en-US" sz="301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follows a Chi-Square distribution.</a:t>
            </a:r>
          </a:p>
          <a:p>
            <a:pPr algn="l" marL="0" indent="0" lvl="0">
              <a:lnSpc>
                <a:spcPts val="42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220"/>
              </a:lnSpc>
              <a:spcBef>
                <a:spcPct val="0"/>
              </a:spcBef>
            </a:pPr>
            <a:r>
              <a:rPr lang="en-US" sz="301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Properties:</a:t>
            </a:r>
          </a:p>
          <a:p>
            <a:pPr algn="l" marL="650883" indent="-325442" lvl="1">
              <a:lnSpc>
                <a:spcPts val="4220"/>
              </a:lnSpc>
              <a:spcBef>
                <a:spcPct val="0"/>
              </a:spcBef>
              <a:buFont typeface="Arial"/>
              <a:buChar char="•"/>
            </a:pPr>
            <a:r>
              <a:rPr lang="en-US" sz="301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Right-skewed</a:t>
            </a:r>
          </a:p>
          <a:p>
            <a:pPr algn="l" marL="650883" indent="-325442" lvl="1">
              <a:lnSpc>
                <a:spcPts val="4220"/>
              </a:lnSpc>
              <a:spcBef>
                <a:spcPct val="0"/>
              </a:spcBef>
              <a:buFont typeface="Arial"/>
              <a:buChar char="•"/>
            </a:pPr>
            <a:r>
              <a:rPr lang="en-US" sz="301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Depends on degrees of freedom</a:t>
            </a:r>
          </a:p>
        </p:txBody>
      </p:sp>
    </p:spTree>
  </p:cSld>
  <p:clrMapOvr>
    <a:masterClrMapping/>
  </p:clrMapOvr>
  <p:transition spd="slow">
    <p:push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94095" y="5143500"/>
            <a:ext cx="5755904" cy="1159175"/>
          </a:xfrm>
          <a:custGeom>
            <a:avLst/>
            <a:gdLst/>
            <a:ahLst/>
            <a:cxnLst/>
            <a:rect r="r" b="b" t="t" l="l"/>
            <a:pathLst>
              <a:path h="1159175" w="5755904">
                <a:moveTo>
                  <a:pt x="0" y="0"/>
                </a:moveTo>
                <a:lnTo>
                  <a:pt x="5755904" y="0"/>
                </a:lnTo>
                <a:lnTo>
                  <a:pt x="5755904" y="1159175"/>
                </a:lnTo>
                <a:lnTo>
                  <a:pt x="0" y="1159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5749" y="5015598"/>
            <a:ext cx="6584915" cy="4864754"/>
          </a:xfrm>
          <a:custGeom>
            <a:avLst/>
            <a:gdLst/>
            <a:ahLst/>
            <a:cxnLst/>
            <a:rect r="r" b="b" t="t" l="l"/>
            <a:pathLst>
              <a:path h="4864754" w="6584915">
                <a:moveTo>
                  <a:pt x="0" y="0"/>
                </a:moveTo>
                <a:lnTo>
                  <a:pt x="6584915" y="0"/>
                </a:lnTo>
                <a:lnTo>
                  <a:pt x="6584915" y="4864754"/>
                </a:lnTo>
                <a:lnTo>
                  <a:pt x="0" y="486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12" r="0" b="-541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87822" y="772895"/>
            <a:ext cx="6240769" cy="4114800"/>
          </a:xfrm>
          <a:custGeom>
            <a:avLst/>
            <a:gdLst/>
            <a:ahLst/>
            <a:cxnLst/>
            <a:rect r="r" b="b" t="t" l="l"/>
            <a:pathLst>
              <a:path h="4114800" w="6240769">
                <a:moveTo>
                  <a:pt x="0" y="0"/>
                </a:moveTo>
                <a:lnTo>
                  <a:pt x="6240769" y="0"/>
                </a:lnTo>
                <a:lnTo>
                  <a:pt x="6240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768" r="-2950" b="-643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43673" y="895350"/>
            <a:ext cx="661562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t-Distribution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51473" y="2367067"/>
            <a:ext cx="5841147" cy="211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</a:t>
            </a:r>
            <a:r>
              <a:rPr lang="en-US" sz="304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when:</a:t>
            </a:r>
          </a:p>
          <a:p>
            <a:pPr algn="l" marL="656527" indent="-328263" lvl="1">
              <a:lnSpc>
                <a:spcPts val="4257"/>
              </a:lnSpc>
              <a:spcBef>
                <a:spcPct val="0"/>
              </a:spcBef>
              <a:buFont typeface="Arial"/>
              <a:buChar char="•"/>
            </a:pPr>
            <a:r>
              <a:rPr lang="en-US" sz="304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Population variance unknown</a:t>
            </a:r>
          </a:p>
          <a:p>
            <a:pPr algn="l" marL="656527" indent="-328263" lvl="1">
              <a:lnSpc>
                <a:spcPts val="4257"/>
              </a:lnSpc>
              <a:spcBef>
                <a:spcPct val="0"/>
              </a:spcBef>
              <a:buFont typeface="Arial"/>
              <a:buChar char="•"/>
            </a:pPr>
            <a:r>
              <a:rPr lang="en-US" sz="3040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Small samples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1473" y="6911927"/>
            <a:ext cx="6475539" cy="234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9"/>
              </a:lnSpc>
              <a:spcBef>
                <a:spcPct val="0"/>
              </a:spcBef>
            </a:pPr>
            <a:r>
              <a:rPr lang="en-US" sz="33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Properti</a:t>
            </a:r>
            <a:r>
              <a:rPr lang="en-US" sz="3371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es:</a:t>
            </a:r>
          </a:p>
          <a:p>
            <a:pPr algn="l" marL="727830" indent="-363915" lvl="1">
              <a:lnSpc>
                <a:spcPts val="4719"/>
              </a:lnSpc>
              <a:spcBef>
                <a:spcPct val="0"/>
              </a:spcBef>
              <a:buFont typeface="Arial"/>
              <a:buChar char="•"/>
            </a:pPr>
            <a:r>
              <a:rPr lang="en-US" sz="3371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Symmetric</a:t>
            </a:r>
          </a:p>
          <a:p>
            <a:pPr algn="l" marL="727830" indent="-363915" lvl="1">
              <a:lnSpc>
                <a:spcPts val="4719"/>
              </a:lnSpc>
              <a:spcBef>
                <a:spcPct val="0"/>
              </a:spcBef>
              <a:buFont typeface="Arial"/>
              <a:buChar char="•"/>
            </a:pPr>
            <a:r>
              <a:rPr lang="en-US" sz="3371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Heavier tails than normal</a:t>
            </a:r>
          </a:p>
          <a:p>
            <a:pPr algn="l" marL="727830" indent="-363915" lvl="1">
              <a:lnSpc>
                <a:spcPts val="4719"/>
              </a:lnSpc>
              <a:spcBef>
                <a:spcPct val="0"/>
              </a:spcBef>
              <a:buFont typeface="Arial"/>
              <a:buChar char="•"/>
            </a:pPr>
            <a:r>
              <a:rPr lang="en-US" sz="3371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Depends on df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160" y="3605706"/>
            <a:ext cx="7022787" cy="1404557"/>
          </a:xfrm>
          <a:custGeom>
            <a:avLst/>
            <a:gdLst/>
            <a:ahLst/>
            <a:cxnLst/>
            <a:rect r="r" b="b" t="t" l="l"/>
            <a:pathLst>
              <a:path h="1404557" w="7022787">
                <a:moveTo>
                  <a:pt x="0" y="0"/>
                </a:moveTo>
                <a:lnTo>
                  <a:pt x="7022787" y="0"/>
                </a:lnTo>
                <a:lnTo>
                  <a:pt x="7022787" y="1404557"/>
                </a:lnTo>
                <a:lnTo>
                  <a:pt x="0" y="1404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467" y="365910"/>
            <a:ext cx="6576400" cy="4777590"/>
          </a:xfrm>
          <a:custGeom>
            <a:avLst/>
            <a:gdLst/>
            <a:ahLst/>
            <a:cxnLst/>
            <a:rect r="r" b="b" t="t" l="l"/>
            <a:pathLst>
              <a:path h="4777590" w="6576400">
                <a:moveTo>
                  <a:pt x="0" y="0"/>
                </a:moveTo>
                <a:lnTo>
                  <a:pt x="6576400" y="0"/>
                </a:lnTo>
                <a:lnTo>
                  <a:pt x="6576400" y="4777590"/>
                </a:lnTo>
                <a:lnTo>
                  <a:pt x="0" y="4777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69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467" y="5143500"/>
            <a:ext cx="7352885" cy="5481918"/>
          </a:xfrm>
          <a:custGeom>
            <a:avLst/>
            <a:gdLst/>
            <a:ahLst/>
            <a:cxnLst/>
            <a:rect r="r" b="b" t="t" l="l"/>
            <a:pathLst>
              <a:path h="5481918" w="7352885">
                <a:moveTo>
                  <a:pt x="0" y="0"/>
                </a:moveTo>
                <a:lnTo>
                  <a:pt x="7352885" y="0"/>
                </a:lnTo>
                <a:lnTo>
                  <a:pt x="7352885" y="5481918"/>
                </a:lnTo>
                <a:lnTo>
                  <a:pt x="0" y="5481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61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22162"/>
            <a:ext cx="7544784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40"/>
              </a:lnSpc>
              <a:spcBef>
                <a:spcPct val="0"/>
              </a:spcBef>
            </a:pPr>
            <a:r>
              <a:rPr lang="en-US" b="true" sz="6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F-</a:t>
            </a:r>
            <a:r>
              <a:rPr lang="en-US" b="true" sz="6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76531"/>
            <a:ext cx="5766950" cy="5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6"/>
              </a:lnSpc>
              <a:spcBef>
                <a:spcPct val="0"/>
              </a:spcBef>
            </a:pPr>
            <a:r>
              <a:rPr lang="en-US" sz="295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</a:t>
            </a:r>
            <a:r>
              <a:rPr lang="en-US" sz="295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compare variances.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160" y="5883960"/>
            <a:ext cx="7373868" cy="281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Properties:</a:t>
            </a:r>
          </a:p>
          <a:p>
            <a:pPr algn="l" marL="879669" indent="-439835" lvl="1">
              <a:lnSpc>
                <a:spcPts val="5704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07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lways positive</a:t>
            </a:r>
          </a:p>
          <a:p>
            <a:pPr algn="l" marL="879669" indent="-439835" lvl="1">
              <a:lnSpc>
                <a:spcPts val="5704"/>
              </a:lnSpc>
              <a:spcBef>
                <a:spcPct val="0"/>
              </a:spcBef>
              <a:buFont typeface="Arial"/>
              <a:buChar char="•"/>
            </a:pPr>
            <a:r>
              <a:rPr lang="en-US" sz="407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Right-skewed</a:t>
            </a:r>
          </a:p>
          <a:p>
            <a:pPr algn="l" marL="879669" indent="-439835" lvl="1">
              <a:lnSpc>
                <a:spcPts val="5704"/>
              </a:lnSpc>
              <a:spcBef>
                <a:spcPct val="0"/>
              </a:spcBef>
              <a:buFont typeface="Arial"/>
              <a:buChar char="•"/>
            </a:pPr>
            <a:r>
              <a:rPr lang="en-US" sz="407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Tw</a:t>
            </a:r>
            <a:r>
              <a:rPr lang="en-US" sz="407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degrees of freedom</a:t>
            </a:r>
          </a:p>
        </p:txBody>
      </p:sp>
    </p:spTree>
  </p:cSld>
  <p:clrMapOvr>
    <a:masterClrMapping/>
  </p:clrMapOvr>
  <p:transition spd="slow">
    <p:push dir="r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972" y="1609758"/>
            <a:ext cx="8696028" cy="7648542"/>
          </a:xfrm>
          <a:custGeom>
            <a:avLst/>
            <a:gdLst/>
            <a:ahLst/>
            <a:cxnLst/>
            <a:rect r="r" b="b" t="t" l="l"/>
            <a:pathLst>
              <a:path h="7648542" w="8696028">
                <a:moveTo>
                  <a:pt x="0" y="0"/>
                </a:moveTo>
                <a:lnTo>
                  <a:pt x="8696028" y="0"/>
                </a:lnTo>
                <a:lnTo>
                  <a:pt x="8696028" y="7648542"/>
                </a:lnTo>
                <a:lnTo>
                  <a:pt x="0" y="764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22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89666" y="526279"/>
            <a:ext cx="822960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Quantile</a:t>
            </a:r>
            <a:r>
              <a:rPr lang="en-US" b="true" sz="7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&amp; Probability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89666" y="3941946"/>
            <a:ext cx="8418726" cy="451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43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Purpose:</a:t>
            </a:r>
          </a:p>
          <a:p>
            <a:pPr algn="l">
              <a:lnSpc>
                <a:spcPts val="6037"/>
              </a:lnSpc>
            </a:pPr>
            <a:r>
              <a:rPr lang="en-US" sz="43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Check if data are normally distributed.</a:t>
            </a:r>
          </a:p>
          <a:p>
            <a:pPr algn="l">
              <a:lnSpc>
                <a:spcPts val="6037"/>
              </a:lnSpc>
            </a:pPr>
          </a:p>
          <a:p>
            <a:pPr algn="l" marL="0" indent="0" lvl="0">
              <a:lnSpc>
                <a:spcPts val="6037"/>
              </a:lnSpc>
              <a:spcBef>
                <a:spcPct val="0"/>
              </a:spcBef>
            </a:pPr>
            <a:r>
              <a:rPr lang="en-US" sz="43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points follow straight</a:t>
            </a:r>
            <a:r>
              <a:rPr lang="en-US" sz="431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line → normality reasonable.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76163" y="904875"/>
            <a:ext cx="11135675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15"/>
              </a:lnSpc>
              <a:spcBef>
                <a:spcPct val="0"/>
              </a:spcBef>
            </a:pPr>
            <a:r>
              <a:rPr lang="en-US" b="true" sz="622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Real-World</a:t>
            </a:r>
            <a:r>
              <a:rPr lang="en-US" b="true" sz="622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7211" y="2219592"/>
            <a:ext cx="15773578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factory produces bolts.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Population mean length = 10 mm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σ = 0.5 mm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Sample size n = 25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Standard error: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 = 0.5 / √25 = 0.1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Interpretation: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Sample means typically vary by 0.1 mm.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Explain: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How CLT helps estimate probability mean &gt; 10.2 mm.</a:t>
            </a:r>
          </a:p>
        </p:txBody>
      </p:sp>
    </p:spTree>
  </p:cSld>
  <p:clrMapOvr>
    <a:masterClrMapping/>
  </p:clrMapOvr>
  <p:transition spd="slow">
    <p:push dir="d"/>
  </p:transition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56954" y="904875"/>
            <a:ext cx="8502944" cy="224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008"/>
              </a:lnSpc>
              <a:spcBef>
                <a:spcPct val="0"/>
              </a:spcBef>
            </a:pPr>
            <a:r>
              <a:rPr lang="en-US" b="true" sz="643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</a:t>
            </a:r>
            <a:r>
              <a:rPr lang="en-US" b="true" sz="643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This Chapter Is Powerful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9896" y="3822908"/>
            <a:ext cx="7095824" cy="543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608" indent="-408304" lvl="1">
              <a:lnSpc>
                <a:spcPts val="5295"/>
              </a:lnSpc>
              <a:spcBef>
                <a:spcPct val="0"/>
              </a:spcBef>
              <a:buAutoNum type="arabicPeriod" startAt="1"/>
            </a:pPr>
            <a:r>
              <a:rPr lang="en-US" sz="37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Sampling</a:t>
            </a:r>
            <a:r>
              <a:rPr lang="en-US" sz="37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distribution ≠ sample distribution</a:t>
            </a:r>
          </a:p>
          <a:p>
            <a:pPr algn="l" marL="816608" indent="-408304" lvl="1">
              <a:lnSpc>
                <a:spcPts val="5295"/>
              </a:lnSpc>
              <a:spcBef>
                <a:spcPct val="0"/>
              </a:spcBef>
              <a:buAutoNum type="arabicPeriod" startAt="1"/>
            </a:pPr>
            <a:r>
              <a:rPr lang="en-US" sz="37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Large n does NOT fix bias</a:t>
            </a:r>
          </a:p>
          <a:p>
            <a:pPr algn="l" marL="816608" indent="-408304" lvl="1">
              <a:lnSpc>
                <a:spcPts val="5295"/>
              </a:lnSpc>
              <a:spcBef>
                <a:spcPct val="0"/>
              </a:spcBef>
              <a:buAutoNum type="arabicPeriod" startAt="1"/>
            </a:pPr>
            <a:r>
              <a:rPr lang="en-US" sz="37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Independence assumption is critical</a:t>
            </a:r>
          </a:p>
          <a:p>
            <a:pPr algn="l" marL="864642" indent="-432321" lvl="1">
              <a:lnSpc>
                <a:spcPts val="5606"/>
              </a:lnSpc>
              <a:spcBef>
                <a:spcPct val="0"/>
              </a:spcBef>
              <a:buAutoNum type="arabicPeriod" startAt="1"/>
            </a:pPr>
            <a:r>
              <a:rPr lang="en-US" sz="40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t-distribution approaches normal as df increases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7528254" cy="217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5"/>
              </a:lnSpc>
              <a:spcBef>
                <a:spcPct val="0"/>
              </a:spcBef>
            </a:pPr>
            <a:r>
              <a:rPr lang="en-US" b="true" sz="622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Common</a:t>
            </a:r>
            <a:r>
              <a:rPr lang="en-US" b="true" sz="622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Mistakes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16291" y="3822908"/>
            <a:ext cx="8348526" cy="457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95"/>
              </a:lnSpc>
            </a:pP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chapter enables:</a:t>
            </a:r>
          </a:p>
          <a:p>
            <a:pPr algn="r">
              <a:lnSpc>
                <a:spcPts val="5195"/>
              </a:lnSpc>
            </a:pP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Chapter 9 → Confidence Intervals</a:t>
            </a:r>
          </a:p>
          <a:p>
            <a:pPr algn="r">
              <a:lnSpc>
                <a:spcPts val="5195"/>
              </a:lnSpc>
            </a:pP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Chapter 10 → Hypothesis Testing</a:t>
            </a:r>
          </a:p>
          <a:p>
            <a:pPr algn="r">
              <a:lnSpc>
                <a:spcPts val="5195"/>
              </a:lnSpc>
            </a:pP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Chapter 11 → Regression Inference</a:t>
            </a:r>
          </a:p>
          <a:p>
            <a:pPr algn="r">
              <a:lnSpc>
                <a:spcPts val="5195"/>
              </a:lnSpc>
            </a:pP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Chapter 13 → ANOVA</a:t>
            </a:r>
          </a:p>
          <a:p>
            <a:pPr algn="r" marL="0" indent="0" lvl="0">
              <a:lnSpc>
                <a:spcPts val="5195"/>
              </a:lnSpc>
              <a:spcBef>
                <a:spcPct val="0"/>
              </a:spcBef>
            </a:pP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Without</a:t>
            </a:r>
            <a:r>
              <a:rPr lang="en-US" sz="37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sampling distributions, inference is impossible.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DAHCXG67IvY</dc:identifier>
  <dcterms:modified xsi:type="dcterms:W3CDTF">2011-08-01T06:04:30Z</dcterms:modified>
  <cp:revision>1</cp:revision>
  <dc:title>chapter 8</dc:title>
</cp:coreProperties>
</file>