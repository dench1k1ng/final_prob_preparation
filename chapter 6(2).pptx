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Interphases Bold" charset="1" panose="02000803060000020004"/>
      <p:regular r:id="rId17"/>
    </p:embeddedFont>
    <p:embeddedFont>
      <p:font typeface="TT Interphases" charset="1" panose="0200050302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3834" y="2453131"/>
            <a:ext cx="6564500" cy="5380738"/>
          </a:xfrm>
          <a:custGeom>
            <a:avLst/>
            <a:gdLst/>
            <a:ahLst/>
            <a:cxnLst/>
            <a:rect r="r" b="b" t="t" l="l"/>
            <a:pathLst>
              <a:path h="5380738" w="6564500">
                <a:moveTo>
                  <a:pt x="0" y="0"/>
                </a:moveTo>
                <a:lnTo>
                  <a:pt x="6564500" y="0"/>
                </a:lnTo>
                <a:lnTo>
                  <a:pt x="6564500" y="5380738"/>
                </a:lnTo>
                <a:lnTo>
                  <a:pt x="0" y="5380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07392"/>
            <a:ext cx="6790112" cy="307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9000" spc="-44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</a:t>
            </a:r>
            <a:r>
              <a:rPr lang="en-US" sz="9000" spc="-44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tinuous Probability Distributions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6219" y="1108262"/>
            <a:ext cx="4422662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Chapter 6. From Uniform to Chi-Square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1474" y="2919549"/>
            <a:ext cx="4256313" cy="5509791"/>
          </a:xfrm>
          <a:custGeom>
            <a:avLst/>
            <a:gdLst/>
            <a:ahLst/>
            <a:cxnLst/>
            <a:rect r="r" b="b" t="t" l="l"/>
            <a:pathLst>
              <a:path h="5509791" w="4256313">
                <a:moveTo>
                  <a:pt x="0" y="0"/>
                </a:moveTo>
                <a:lnTo>
                  <a:pt x="4256313" y="0"/>
                </a:lnTo>
                <a:lnTo>
                  <a:pt x="4256313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70894" y="1035790"/>
            <a:ext cx="7639639" cy="10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95877" y="2419276"/>
            <a:ext cx="8511251" cy="71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6"/>
              </a:lnSpc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       List: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6.1 Continuous Uniform Distribution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6.2 Normal Distribution (Gaussian)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6.3 Areas Under the Curve. 68-95-99.7 Rule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6.4 Applications of the Normal Distribution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6.5 Normal Approximation to the Binomial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6.6 Gamma &amp; Exponential Distributions</a:t>
            </a:r>
          </a:p>
          <a:p>
            <a:pPr algn="l" marL="1464016" indent="-488005" lvl="2">
              <a:lnSpc>
                <a:spcPts val="4746"/>
              </a:lnSpc>
              <a:buFont typeface="Arial"/>
              <a:buChar char="⚬"/>
            </a:pPr>
            <a:r>
              <a:rPr lang="en-US" sz="3390" spc="-16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6.7 Chi-Squared (χ²) Distribution</a:t>
            </a:r>
          </a:p>
          <a:p>
            <a:pPr algn="l">
              <a:lnSpc>
                <a:spcPts val="474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4396" y="5431095"/>
            <a:ext cx="5081346" cy="3238556"/>
          </a:xfrm>
          <a:custGeom>
            <a:avLst/>
            <a:gdLst/>
            <a:ahLst/>
            <a:cxnLst/>
            <a:rect r="r" b="b" t="t" l="l"/>
            <a:pathLst>
              <a:path h="3238556" w="5081346">
                <a:moveTo>
                  <a:pt x="0" y="0"/>
                </a:moveTo>
                <a:lnTo>
                  <a:pt x="5081346" y="0"/>
                </a:lnTo>
                <a:lnTo>
                  <a:pt x="5081346" y="3238556"/>
                </a:lnTo>
                <a:lnTo>
                  <a:pt x="0" y="3238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863" t="0" r="-2525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0806" y="4224916"/>
            <a:ext cx="6057571" cy="1837168"/>
          </a:xfrm>
          <a:custGeom>
            <a:avLst/>
            <a:gdLst/>
            <a:ahLst/>
            <a:cxnLst/>
            <a:rect r="r" b="b" t="t" l="l"/>
            <a:pathLst>
              <a:path h="1837168" w="6057571">
                <a:moveTo>
                  <a:pt x="0" y="0"/>
                </a:moveTo>
                <a:lnTo>
                  <a:pt x="6057570" y="0"/>
                </a:lnTo>
                <a:lnTo>
                  <a:pt x="6057570" y="1837168"/>
                </a:lnTo>
                <a:lnTo>
                  <a:pt x="0" y="1837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89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08576" y="2944220"/>
            <a:ext cx="346681" cy="400209"/>
          </a:xfrm>
          <a:custGeom>
            <a:avLst/>
            <a:gdLst/>
            <a:ahLst/>
            <a:cxnLst/>
            <a:rect r="r" b="b" t="t" l="l"/>
            <a:pathLst>
              <a:path h="400209" w="346681">
                <a:moveTo>
                  <a:pt x="0" y="0"/>
                </a:moveTo>
                <a:lnTo>
                  <a:pt x="346681" y="0"/>
                </a:lnTo>
                <a:lnTo>
                  <a:pt x="346681" y="400209"/>
                </a:lnTo>
                <a:lnTo>
                  <a:pt x="0" y="400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43540" y="4511926"/>
            <a:ext cx="476754" cy="490120"/>
          </a:xfrm>
          <a:custGeom>
            <a:avLst/>
            <a:gdLst/>
            <a:ahLst/>
            <a:cxnLst/>
            <a:rect r="r" b="b" t="t" l="l"/>
            <a:pathLst>
              <a:path h="490120" w="476754">
                <a:moveTo>
                  <a:pt x="0" y="0"/>
                </a:moveTo>
                <a:lnTo>
                  <a:pt x="476753" y="0"/>
                </a:lnTo>
                <a:lnTo>
                  <a:pt x="476753" y="490121"/>
                </a:lnTo>
                <a:lnTo>
                  <a:pt x="0" y="490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05599" y="888432"/>
            <a:ext cx="8202977" cy="9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4299" spc="-21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Continuous Uniform Distribution</a:t>
            </a:r>
          </a:p>
          <a:p>
            <a:pPr algn="l">
              <a:lnSpc>
                <a:spcPts val="37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4396" y="2616451"/>
            <a:ext cx="365903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4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Definition: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All outcomes in interval [a, b] are equally likely.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624200" y="2240220"/>
            <a:ext cx="3659035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4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PDF (Probability Density Function)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808576" y="2329441"/>
            <a:ext cx="365903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4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Real Life Example</a:t>
            </a:r>
          </a:p>
          <a:p>
            <a:pPr algn="l">
              <a:lnSpc>
                <a:spcPts val="4200"/>
              </a:lnSpc>
            </a:pPr>
            <a:r>
              <a:rPr lang="en-US" sz="3000" spc="-14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     </a:t>
            </a: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Waiting time for a bus (arrives every 15 minutes).</a:t>
            </a:r>
          </a:p>
          <a:p>
            <a:pPr algn="l">
              <a:lnSpc>
                <a:spcPts val="4200"/>
              </a:lnSpc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Random number generators.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583" y="876935"/>
            <a:ext cx="9601274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6999" spc="-34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Normal Distribution</a:t>
            </a:r>
          </a:p>
          <a:p>
            <a:pPr algn="l">
              <a:lnSpc>
                <a:spcPts val="6089"/>
              </a:lnSpc>
            </a:pPr>
            <a:r>
              <a:rPr lang="en-US" sz="6999" spc="-34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6999" spc="-34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(Gaussian)</a:t>
            </a:r>
          </a:p>
          <a:p>
            <a:pPr algn="l">
              <a:lnSpc>
                <a:spcPts val="608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92583" y="2847340"/>
            <a:ext cx="7214367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1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Definition:</a:t>
            </a:r>
          </a:p>
          <a:p>
            <a:pPr algn="l">
              <a:lnSpc>
                <a:spcPts val="3220"/>
              </a:lnSpc>
            </a:pPr>
            <a:r>
              <a:rPr lang="en-US" sz="2300" spc="-1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continuous distribution with a bell-shaped curve that is symmetric about the mean.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spc="-1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Parameters: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-11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μ (mu)</a:t>
            </a:r>
            <a:r>
              <a:rPr lang="en-US" sz="2300" spc="-1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— mean (center of the distribution)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-11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σ (sigma)</a:t>
            </a:r>
            <a:r>
              <a:rPr lang="en-US" sz="2300" spc="-1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— standard deviation (spread / width)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spc="-1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Notation: </a:t>
            </a:r>
            <a:r>
              <a:rPr lang="en-US" b="true" sz="2300" spc="-11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</a:t>
            </a:r>
            <a:r>
              <a:rPr lang="en-US" sz="2300" spc="-11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∼</a:t>
            </a:r>
            <a:r>
              <a:rPr lang="en-US" b="true" sz="2300" spc="-11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</a:t>
            </a:r>
            <a:r>
              <a:rPr lang="en-US" sz="2300" spc="-11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(μ,</a:t>
            </a:r>
            <a:r>
              <a:rPr lang="en-US" b="true" sz="2300" spc="-11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σ</a:t>
            </a:r>
            <a:r>
              <a:rPr lang="en-US" b="true" sz="2300" spc="-11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2</a:t>
            </a:r>
            <a:r>
              <a:rPr lang="en-US" sz="2300" spc="-11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)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409135" y="7237095"/>
            <a:ext cx="4645404" cy="2410912"/>
            <a:chOff x="0" y="0"/>
            <a:chExt cx="6193872" cy="321454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193872" cy="3214549"/>
              <a:chOff x="0" y="0"/>
              <a:chExt cx="1223481" cy="63497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23481" cy="634973"/>
              </a:xfrm>
              <a:custGeom>
                <a:avLst/>
                <a:gdLst/>
                <a:ahLst/>
                <a:cxnLst/>
                <a:rect r="r" b="b" t="t" l="l"/>
                <a:pathLst>
                  <a:path h="634973" w="1223481">
                    <a:moveTo>
                      <a:pt x="84995" y="0"/>
                    </a:moveTo>
                    <a:lnTo>
                      <a:pt x="1138486" y="0"/>
                    </a:lnTo>
                    <a:cubicBezTo>
                      <a:pt x="1161028" y="0"/>
                      <a:pt x="1182647" y="8955"/>
                      <a:pt x="1198586" y="24895"/>
                    </a:cubicBezTo>
                    <a:cubicBezTo>
                      <a:pt x="1214526" y="40834"/>
                      <a:pt x="1223481" y="62453"/>
                      <a:pt x="1223481" y="84995"/>
                    </a:cubicBezTo>
                    <a:lnTo>
                      <a:pt x="1223481" y="549977"/>
                    </a:lnTo>
                    <a:cubicBezTo>
                      <a:pt x="1223481" y="572520"/>
                      <a:pt x="1214526" y="594138"/>
                      <a:pt x="1198586" y="610078"/>
                    </a:cubicBezTo>
                    <a:cubicBezTo>
                      <a:pt x="1182647" y="626018"/>
                      <a:pt x="1161028" y="634973"/>
                      <a:pt x="1138486" y="634973"/>
                    </a:cubicBezTo>
                    <a:lnTo>
                      <a:pt x="84995" y="634973"/>
                    </a:lnTo>
                    <a:cubicBezTo>
                      <a:pt x="62453" y="634973"/>
                      <a:pt x="40834" y="626018"/>
                      <a:pt x="24895" y="610078"/>
                    </a:cubicBezTo>
                    <a:cubicBezTo>
                      <a:pt x="8955" y="594138"/>
                      <a:pt x="0" y="572520"/>
                      <a:pt x="0" y="549977"/>
                    </a:cubicBezTo>
                    <a:lnTo>
                      <a:pt x="0" y="84995"/>
                    </a:lnTo>
                    <a:cubicBezTo>
                      <a:pt x="0" y="62453"/>
                      <a:pt x="8955" y="40834"/>
                      <a:pt x="24895" y="24895"/>
                    </a:cubicBezTo>
                    <a:cubicBezTo>
                      <a:pt x="40834" y="8955"/>
                      <a:pt x="62453" y="0"/>
                      <a:pt x="84995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223481" cy="6825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44597" y="235411"/>
              <a:ext cx="5572955" cy="2979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10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Key Properties</a:t>
              </a:r>
            </a:p>
            <a:p>
              <a:pPr algn="ctr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10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Symmetric about the mean μ.</a:t>
              </a:r>
            </a:p>
            <a:p>
              <a:pPr algn="ctr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10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Mean = Median = Mode (all equal).</a:t>
              </a:r>
            </a:p>
            <a:p>
              <a:pPr algn="ctr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10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Total area under the curve = 1.</a:t>
              </a:r>
            </a:p>
            <a:p>
              <a:pPr algn="ctr">
                <a:lnSpc>
                  <a:spcPts val="2965"/>
                </a:lnSpc>
                <a:spcBef>
                  <a:spcPct val="0"/>
                </a:spcBef>
              </a:pPr>
              <a:r>
                <a:rPr lang="en-US" sz="2118" spc="-10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Almost all data (99.7%) lies within μ ± 3σ.</a:t>
              </a:r>
            </a:p>
            <a:p>
              <a:pPr algn="ctr">
                <a:lnSpc>
                  <a:spcPts val="29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38370" y="1028700"/>
            <a:ext cx="9549630" cy="2066362"/>
            <a:chOff x="0" y="0"/>
            <a:chExt cx="12732839" cy="27551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743326"/>
              <a:ext cx="11721006" cy="2011823"/>
            </a:xfrm>
            <a:custGeom>
              <a:avLst/>
              <a:gdLst/>
              <a:ahLst/>
              <a:cxnLst/>
              <a:rect r="r" b="b" t="t" l="l"/>
              <a:pathLst>
                <a:path h="2011823" w="11721006">
                  <a:moveTo>
                    <a:pt x="0" y="0"/>
                  </a:moveTo>
                  <a:lnTo>
                    <a:pt x="11721006" y="0"/>
                  </a:lnTo>
                  <a:lnTo>
                    <a:pt x="11721006" y="2011823"/>
                  </a:lnTo>
                  <a:lnTo>
                    <a:pt x="0" y="201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4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113683" y="-47625"/>
              <a:ext cx="9619156" cy="1036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 spc="-112" b="tru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PDF (Probability Density Function)</a:t>
              </a:r>
            </a:p>
            <a:p>
              <a:pPr algn="l">
                <a:lnSpc>
                  <a:spcPts val="32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374250" y="3866396"/>
            <a:ext cx="10245660" cy="5122830"/>
          </a:xfrm>
          <a:custGeom>
            <a:avLst/>
            <a:gdLst/>
            <a:ahLst/>
            <a:cxnLst/>
            <a:rect r="r" b="b" t="t" l="l"/>
            <a:pathLst>
              <a:path h="5122830" w="10245660">
                <a:moveTo>
                  <a:pt x="0" y="0"/>
                </a:moveTo>
                <a:lnTo>
                  <a:pt x="10245660" y="0"/>
                </a:lnTo>
                <a:lnTo>
                  <a:pt x="10245660" y="5122830"/>
                </a:lnTo>
                <a:lnTo>
                  <a:pt x="0" y="512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958" y="1931988"/>
            <a:ext cx="9687514" cy="4843757"/>
          </a:xfrm>
          <a:custGeom>
            <a:avLst/>
            <a:gdLst/>
            <a:ahLst/>
            <a:cxnLst/>
            <a:rect r="r" b="b" t="t" l="l"/>
            <a:pathLst>
              <a:path h="4843757" w="9687514">
                <a:moveTo>
                  <a:pt x="0" y="0"/>
                </a:moveTo>
                <a:lnTo>
                  <a:pt x="9687514" y="0"/>
                </a:lnTo>
                <a:lnTo>
                  <a:pt x="9687514" y="4843757"/>
                </a:lnTo>
                <a:lnTo>
                  <a:pt x="0" y="4843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11826" y="713779"/>
            <a:ext cx="7068990" cy="160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4500" spc="-22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Empirical Rule (68–95–99.7)</a:t>
            </a:r>
          </a:p>
          <a:p>
            <a:pPr algn="l">
              <a:lnSpc>
                <a:spcPts val="765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510325" y="2074996"/>
            <a:ext cx="5462411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-132" b="true">
                <a:solidFill>
                  <a:srgbClr val="3779E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Rule</a:t>
            </a:r>
          </a:p>
          <a:p>
            <a:pPr algn="l">
              <a:lnSpc>
                <a:spcPts val="3779"/>
              </a:lnSpc>
            </a:pPr>
            <a:r>
              <a:rPr lang="en-US" sz="2700" spc="-13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 any normal distribution: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68% of data falls within μ ± 1σ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95% </a:t>
            </a:r>
            <a:r>
              <a:rPr lang="en-US" sz="2700" spc="-13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of data falls within μ ± 2σ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99.7% of data falls within μ ± 3σ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510325" y="5538130"/>
            <a:ext cx="5462411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7" b="true">
                <a:solidFill>
                  <a:srgbClr val="FF313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It Matters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13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Quickly estimate spread of data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13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Identify outliers (values beyond 3σ are rare)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13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Foundation for statistical process control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058064"/>
            <a:ext cx="8773359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47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If IQ scores are normally distributed with μ = 100 and σ = 15: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68% of people have IQ between 85 and 115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95% have IQ between 70 and 130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99.7% have IQ between 55 and 145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639" y="1245504"/>
            <a:ext cx="8487361" cy="5216790"/>
          </a:xfrm>
          <a:custGeom>
            <a:avLst/>
            <a:gdLst/>
            <a:ahLst/>
            <a:cxnLst/>
            <a:rect r="r" b="b" t="t" l="l"/>
            <a:pathLst>
              <a:path h="5216790" w="8487361">
                <a:moveTo>
                  <a:pt x="0" y="0"/>
                </a:moveTo>
                <a:lnTo>
                  <a:pt x="8487361" y="0"/>
                </a:lnTo>
                <a:lnTo>
                  <a:pt x="8487361" y="5216791"/>
                </a:lnTo>
                <a:lnTo>
                  <a:pt x="0" y="5216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77110" y="1680342"/>
            <a:ext cx="1664515" cy="1053208"/>
          </a:xfrm>
          <a:custGeom>
            <a:avLst/>
            <a:gdLst/>
            <a:ahLst/>
            <a:cxnLst/>
            <a:rect r="r" b="b" t="t" l="l"/>
            <a:pathLst>
              <a:path h="1053208" w="1664515">
                <a:moveTo>
                  <a:pt x="0" y="0"/>
                </a:moveTo>
                <a:lnTo>
                  <a:pt x="1664515" y="0"/>
                </a:lnTo>
                <a:lnTo>
                  <a:pt x="1664515" y="1053208"/>
                </a:lnTo>
                <a:lnTo>
                  <a:pt x="0" y="1053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39" t="0" r="-18635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80660" y="7707184"/>
            <a:ext cx="4195419" cy="983672"/>
          </a:xfrm>
          <a:custGeom>
            <a:avLst/>
            <a:gdLst/>
            <a:ahLst/>
            <a:cxnLst/>
            <a:rect r="r" b="b" t="t" l="l"/>
            <a:pathLst>
              <a:path h="983672" w="4195419">
                <a:moveTo>
                  <a:pt x="0" y="0"/>
                </a:moveTo>
                <a:lnTo>
                  <a:pt x="4195419" y="0"/>
                </a:lnTo>
                <a:lnTo>
                  <a:pt x="4195419" y="983672"/>
                </a:lnTo>
                <a:lnTo>
                  <a:pt x="0" y="983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5131" y="482742"/>
            <a:ext cx="5637165" cy="56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2499" spc="-12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Z-Score (Standardization)</a:t>
            </a:r>
          </a:p>
          <a:p>
            <a:pPr algn="l">
              <a:lnSpc>
                <a:spcPts val="217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05131" y="7491730"/>
            <a:ext cx="4926224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7" b="true">
                <a:solidFill>
                  <a:srgbClr val="E9984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Standardize?</a:t>
            </a:r>
          </a:p>
          <a:p>
            <a:pPr algn="l">
              <a:lnSpc>
                <a:spcPts val="2799"/>
              </a:lnSpc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Every normal distribution has different μ and σ.</a:t>
            </a:r>
          </a:p>
          <a:p>
            <a:pPr algn="l">
              <a:lnSpc>
                <a:spcPts val="2799"/>
              </a:lnSpc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 calculate probabilities, we convert any normal distribution to standard normal:</a:t>
            </a:r>
          </a:p>
          <a:p>
            <a:pPr algn="l">
              <a:lnSpc>
                <a:spcPts val="2799"/>
              </a:lnSpc>
            </a:pPr>
            <a:r>
              <a:rPr lang="en-US" sz="1999" spc="-9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Z∼N(0,1)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77110" y="1207404"/>
            <a:ext cx="4273073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7" b="true">
                <a:solidFill>
                  <a:srgbClr val="FB7E6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Z-Score Formula</a:t>
            </a: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Where: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X = raw score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μ = population mean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σ = population standard deviation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241645" y="6531956"/>
            <a:ext cx="4794576" cy="39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1853" spc="-90" b="true">
                <a:solidFill>
                  <a:srgbClr val="3779E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Interpretation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Z-score tells us: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How many standard deviations a value lies from the mean.</a:t>
            </a:r>
          </a:p>
          <a:p>
            <a:pPr algn="l">
              <a:lnSpc>
                <a:spcPts val="2595"/>
              </a:lnSpc>
            </a:pP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Z = 0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Value equals the mean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Z &gt; 0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Value is above the mean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Z &lt; 0</a:t>
            </a:r>
          </a:p>
          <a:p>
            <a:pPr algn="l">
              <a:lnSpc>
                <a:spcPts val="2595"/>
              </a:lnSpc>
            </a:pPr>
            <a:r>
              <a:rPr lang="en-US" sz="1853" spc="-9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Value is below the mean</a:t>
            </a:r>
          </a:p>
          <a:p>
            <a:pPr algn="l">
              <a:lnSpc>
                <a:spcPts val="259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868739" y="6424195"/>
            <a:ext cx="7419261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 (IQ scores)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If μ=100,σ=15μ=100,σ=15: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What is the Z-score for IQ = 130?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Interpretation: IQ of 130 is 2 standard deviations above the mean.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→ This corresponds to ≈ 97.5th percentile (only 2.5% of people have higher IQ).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5610" y="936059"/>
            <a:ext cx="1065678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5000" spc="-245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Applications of the Normal Distribution</a:t>
            </a:r>
          </a:p>
          <a:p>
            <a:pPr algn="l">
              <a:lnSpc>
                <a:spcPts val="43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335517" y="2922270"/>
            <a:ext cx="3616965" cy="439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11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Business &amp; Quality Control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📦 Manufacturing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Package weights (e.g., chips, drinks)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Product dimensions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📊 Risk Management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Stock market returns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Portfolio risk assessment</a:t>
            </a:r>
          </a:p>
          <a:p>
            <a:pPr algn="l">
              <a:lnSpc>
                <a:spcPts val="2660"/>
              </a:lnSpc>
            </a:pPr>
            <a:r>
              <a:rPr lang="en-US" sz="1900" spc="-93" b="true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A machine fills bottles. Amount varies normally around 500ml with σ = 5ml. Most bottles contain 495–505ml.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22270"/>
            <a:ext cx="3180132" cy="439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11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Education &amp; Testing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📚 Standardized Tests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IQ scores (μ = 100, σ = 15)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SAT, ACT, GRE scores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Grading on a curve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🎓 Student Performance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Comparing students across different classes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Determining grade boundaries</a:t>
            </a:r>
          </a:p>
          <a:p>
            <a:pPr algn="l">
              <a:lnSpc>
                <a:spcPts val="2660"/>
              </a:lnSpc>
            </a:pPr>
            <a:r>
              <a:rPr lang="en-US" sz="1900" spc="-93" b="true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Top 5% of students get an A. Find the cutoff score.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662999" y="2922270"/>
            <a:ext cx="3396046" cy="439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112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Science &amp; Medicine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🧬 Biology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Height, weight, blood pressure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Birth weight of newborns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🔬 Measurement Errors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Scientific experiments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Instrument accuracy</a:t>
            </a:r>
          </a:p>
          <a:p>
            <a:pPr algn="l">
              <a:lnSpc>
                <a:spcPts val="2660"/>
              </a:lnSpc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🩺 Medical Reference Ranges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"Normal" range for lab tests (95% of healthy population)</a:t>
            </a:r>
          </a:p>
          <a:p>
            <a:pPr algn="l">
              <a:lnSpc>
                <a:spcPts val="2660"/>
              </a:lnSpc>
            </a:pPr>
            <a:r>
              <a:rPr lang="en-US" sz="1900" spc="-93" b="true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Thyroid levels — values beyond 2σ may indicate disease.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28197" y="8155305"/>
            <a:ext cx="523160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FF313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It's Everywhere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Normal Distribution appears whenever: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Many small independent factors add up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Measurements vary randomly around a central value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→ It's the foundation of statistics and data science.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62483" y="506730"/>
            <a:ext cx="6734019" cy="5050514"/>
          </a:xfrm>
          <a:custGeom>
            <a:avLst/>
            <a:gdLst/>
            <a:ahLst/>
            <a:cxnLst/>
            <a:rect r="r" b="b" t="t" l="l"/>
            <a:pathLst>
              <a:path h="5050514" w="6734019">
                <a:moveTo>
                  <a:pt x="0" y="0"/>
                </a:moveTo>
                <a:lnTo>
                  <a:pt x="6734019" y="0"/>
                </a:lnTo>
                <a:lnTo>
                  <a:pt x="6734019" y="5050514"/>
                </a:lnTo>
                <a:lnTo>
                  <a:pt x="0" y="505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646" y="6526884"/>
            <a:ext cx="3077691" cy="2936993"/>
          </a:xfrm>
          <a:custGeom>
            <a:avLst/>
            <a:gdLst/>
            <a:ahLst/>
            <a:cxnLst/>
            <a:rect r="r" b="b" t="t" l="l"/>
            <a:pathLst>
              <a:path h="2936993" w="3077691">
                <a:moveTo>
                  <a:pt x="0" y="0"/>
                </a:moveTo>
                <a:lnTo>
                  <a:pt x="3077691" y="0"/>
                </a:lnTo>
                <a:lnTo>
                  <a:pt x="3077691" y="2936993"/>
                </a:lnTo>
                <a:lnTo>
                  <a:pt x="0" y="293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040" t="-25022" r="-5765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61834" y="9056385"/>
            <a:ext cx="5336474" cy="814985"/>
          </a:xfrm>
          <a:custGeom>
            <a:avLst/>
            <a:gdLst/>
            <a:ahLst/>
            <a:cxnLst/>
            <a:rect r="r" b="b" t="t" l="l"/>
            <a:pathLst>
              <a:path h="814985" w="5336474">
                <a:moveTo>
                  <a:pt x="0" y="0"/>
                </a:moveTo>
                <a:lnTo>
                  <a:pt x="5336475" y="0"/>
                </a:lnTo>
                <a:lnTo>
                  <a:pt x="5336475" y="814984"/>
                </a:lnTo>
                <a:lnTo>
                  <a:pt x="0" y="814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4659" y="630555"/>
            <a:ext cx="847372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999" spc="-195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Normal Approximation to the Binomial</a:t>
            </a:r>
          </a:p>
          <a:p>
            <a:pPr algn="l">
              <a:lnSpc>
                <a:spcPts val="34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54659" y="1512570"/>
            <a:ext cx="5293926" cy="502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8" b="true">
                <a:solidFill>
                  <a:srgbClr val="FF313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Problem</a:t>
            </a:r>
          </a:p>
          <a:p>
            <a:pPr algn="l">
              <a:lnSpc>
                <a:spcPts val="2520"/>
              </a:lnSpc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Binomial distribution: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Models number of successes in n trials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Probability of succes</a:t>
            </a: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 = p</a:t>
            </a:r>
          </a:p>
          <a:p>
            <a:pPr algn="l">
              <a:lnSpc>
                <a:spcPts val="2520"/>
              </a:lnSpc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When n is large, binomial calculations become difficult.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spc="-88" b="true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Solution</a:t>
            </a:r>
          </a:p>
          <a:p>
            <a:pPr algn="l">
              <a:lnSpc>
                <a:spcPts val="2520"/>
              </a:lnSpc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 Normal Distribution to approximate Binomial when:</a:t>
            </a:r>
          </a:p>
          <a:p>
            <a:pPr algn="l">
              <a:lnSpc>
                <a:spcPts val="2520"/>
              </a:lnSpc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np≥5 and n(1−p)≥5</a:t>
            </a:r>
          </a:p>
          <a:p>
            <a:pPr algn="l">
              <a:lnSpc>
                <a:spcPts val="2520"/>
              </a:lnSpc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Where: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 = number of trials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 = probability of success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97659" y="6005606"/>
            <a:ext cx="2864824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98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</a:p>
          <a:p>
            <a:pPr algn="l">
              <a:lnSpc>
                <a:spcPts val="2800"/>
              </a:lnSpc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Coin flipped 100 times</a:t>
            </a:r>
          </a:p>
          <a:p>
            <a:pPr algn="l">
              <a:lnSpc>
                <a:spcPts val="2800"/>
              </a:lnSpc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What's P(exactly 60 heads)?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 = 100, p = 0.5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np = 50 ≥ 5 ✓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n(1-p) = 50 ≥ 5 ✓</a:t>
            </a:r>
          </a:p>
          <a:p>
            <a:pPr algn="l">
              <a:lnSpc>
                <a:spcPts val="2800"/>
              </a:lnSpc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μ=50,σ=100⋅0.5⋅0.5=25=5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4659" y="5996081"/>
            <a:ext cx="389977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spc="-117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Parameters for Approximation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78741" y="6194201"/>
            <a:ext cx="6957288" cy="349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b="true" sz="2204" spc="-108">
                <a:solidFill>
                  <a:srgbClr val="3779E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Continuity Correction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4" spc="-1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Because binomial is discrete (whole numbers) and normal is continuous: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4" spc="-1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P(X = 60) → P(59.5 &lt; Y &lt; 60.5)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b="true" sz="2204" spc="-108">
                <a:solidFill>
                  <a:srgbClr val="E9984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It Matters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4" spc="-1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Makes calculations faster and easier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4" spc="-1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Used in quality control, surveys, polling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4" spc="-1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Foundation for statistical inference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2118" y="3992408"/>
            <a:ext cx="2633533" cy="1736395"/>
          </a:xfrm>
          <a:custGeom>
            <a:avLst/>
            <a:gdLst/>
            <a:ahLst/>
            <a:cxnLst/>
            <a:rect r="r" b="b" t="t" l="l"/>
            <a:pathLst>
              <a:path h="1736395" w="2633533">
                <a:moveTo>
                  <a:pt x="0" y="0"/>
                </a:moveTo>
                <a:lnTo>
                  <a:pt x="2633533" y="0"/>
                </a:lnTo>
                <a:lnTo>
                  <a:pt x="2633533" y="1736395"/>
                </a:lnTo>
                <a:lnTo>
                  <a:pt x="0" y="1736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2569" y="1595901"/>
            <a:ext cx="4448921" cy="884080"/>
          </a:xfrm>
          <a:custGeom>
            <a:avLst/>
            <a:gdLst/>
            <a:ahLst/>
            <a:cxnLst/>
            <a:rect r="r" b="b" t="t" l="l"/>
            <a:pathLst>
              <a:path h="884080" w="4448921">
                <a:moveTo>
                  <a:pt x="0" y="0"/>
                </a:moveTo>
                <a:lnTo>
                  <a:pt x="4448921" y="0"/>
                </a:lnTo>
                <a:lnTo>
                  <a:pt x="4448921" y="884080"/>
                </a:lnTo>
                <a:lnTo>
                  <a:pt x="0" y="8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57095" y="4135855"/>
            <a:ext cx="5264696" cy="724750"/>
          </a:xfrm>
          <a:custGeom>
            <a:avLst/>
            <a:gdLst/>
            <a:ahLst/>
            <a:cxnLst/>
            <a:rect r="r" b="b" t="t" l="l"/>
            <a:pathLst>
              <a:path h="724750" w="5264696">
                <a:moveTo>
                  <a:pt x="0" y="0"/>
                </a:moveTo>
                <a:lnTo>
                  <a:pt x="5264696" y="0"/>
                </a:lnTo>
                <a:lnTo>
                  <a:pt x="5264696" y="724750"/>
                </a:lnTo>
                <a:lnTo>
                  <a:pt x="0" y="724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1428" y="4544902"/>
            <a:ext cx="6707872" cy="4713398"/>
          </a:xfrm>
          <a:custGeom>
            <a:avLst/>
            <a:gdLst/>
            <a:ahLst/>
            <a:cxnLst/>
            <a:rect r="r" b="b" t="t" l="l"/>
            <a:pathLst>
              <a:path h="4713398" w="6707872">
                <a:moveTo>
                  <a:pt x="0" y="0"/>
                </a:moveTo>
                <a:lnTo>
                  <a:pt x="6707872" y="0"/>
                </a:lnTo>
                <a:lnTo>
                  <a:pt x="6707872" y="4713398"/>
                </a:lnTo>
                <a:lnTo>
                  <a:pt x="0" y="4713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3379" y="6901601"/>
            <a:ext cx="7578359" cy="606764"/>
          </a:xfrm>
          <a:custGeom>
            <a:avLst/>
            <a:gdLst/>
            <a:ahLst/>
            <a:cxnLst/>
            <a:rect r="r" b="b" t="t" l="l"/>
            <a:pathLst>
              <a:path h="606764" w="7578359">
                <a:moveTo>
                  <a:pt x="0" y="0"/>
                </a:moveTo>
                <a:lnTo>
                  <a:pt x="7578359" y="0"/>
                </a:lnTo>
                <a:lnTo>
                  <a:pt x="7578359" y="606764"/>
                </a:lnTo>
                <a:lnTo>
                  <a:pt x="0" y="606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2118" y="8188678"/>
            <a:ext cx="6978478" cy="285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8"/>
              </a:lnSpc>
            </a:pPr>
            <a:r>
              <a:rPr lang="en-US" sz="8400" spc="-41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Exponential Distribution</a:t>
            </a:r>
          </a:p>
          <a:p>
            <a:pPr algn="l">
              <a:lnSpc>
                <a:spcPts val="730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21586" y="782229"/>
            <a:ext cx="6142033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98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Definition</a:t>
            </a:r>
          </a:p>
          <a:p>
            <a:pPr algn="l">
              <a:lnSpc>
                <a:spcPts val="2800"/>
              </a:lnSpc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Models the time between events in a Poisson process.</a:t>
            </a:r>
          </a:p>
          <a:p>
            <a:pPr algn="l">
              <a:lnSpc>
                <a:spcPts val="2800"/>
              </a:lnSpc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Examples: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 until a machine breaks down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 between customer arrivals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 until a radioactive particle decays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092569" y="931197"/>
            <a:ext cx="7866402" cy="305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964" spc="-96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PDF (Probability Density Function)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Where:</a:t>
            </a:r>
          </a:p>
          <a:p>
            <a:pPr algn="l" marL="424183" indent="-212091" lvl="1">
              <a:lnSpc>
                <a:spcPts val="2750"/>
              </a:lnSpc>
              <a:buFont typeface="Arial"/>
              <a:buChar char="•"/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λ = rate parameter (events per unit time)</a:t>
            </a:r>
          </a:p>
          <a:p>
            <a:pPr algn="l" marL="424183" indent="-212091" lvl="1">
              <a:lnSpc>
                <a:spcPts val="2750"/>
              </a:lnSpc>
              <a:buFont typeface="Arial"/>
              <a:buChar char="•"/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x = time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92118" y="3528857"/>
            <a:ext cx="26335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Properties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86852" y="3528857"/>
            <a:ext cx="240518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Memoryless Property: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2118" y="5697250"/>
            <a:ext cx="8000881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cafe receives customers at a rate of 10 per hour (λ=10λ=10).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What's the probability the next customer arrives in less than 6 minutes (0.1 hour)?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2587" y="5730915"/>
            <a:ext cx="5679773" cy="1737588"/>
            <a:chOff x="0" y="0"/>
            <a:chExt cx="7573030" cy="2316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31877"/>
              <a:ext cx="7573030" cy="1484908"/>
            </a:xfrm>
            <a:custGeom>
              <a:avLst/>
              <a:gdLst/>
              <a:ahLst/>
              <a:cxnLst/>
              <a:rect r="r" b="b" t="t" l="l"/>
              <a:pathLst>
                <a:path h="1484908" w="7573030">
                  <a:moveTo>
                    <a:pt x="0" y="0"/>
                  </a:moveTo>
                  <a:lnTo>
                    <a:pt x="7573030" y="0"/>
                  </a:lnTo>
                  <a:lnTo>
                    <a:pt x="7573030" y="1484907"/>
                  </a:lnTo>
                  <a:lnTo>
                    <a:pt x="0" y="1484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36685" y="-38100"/>
              <a:ext cx="4899660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-97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PDF (Probability Density Function)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1803676"/>
            <a:ext cx="8758646" cy="5362948"/>
          </a:xfrm>
          <a:custGeom>
            <a:avLst/>
            <a:gdLst/>
            <a:ahLst/>
            <a:cxnLst/>
            <a:rect r="r" b="b" t="t" l="l"/>
            <a:pathLst>
              <a:path h="5362948" w="8758646">
                <a:moveTo>
                  <a:pt x="0" y="0"/>
                </a:moveTo>
                <a:lnTo>
                  <a:pt x="8758646" y="0"/>
                </a:lnTo>
                <a:lnTo>
                  <a:pt x="8758646" y="5362947"/>
                </a:lnTo>
                <a:lnTo>
                  <a:pt x="0" y="5362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07100" y="7899400"/>
            <a:ext cx="2290507" cy="1616080"/>
          </a:xfrm>
          <a:custGeom>
            <a:avLst/>
            <a:gdLst/>
            <a:ahLst/>
            <a:cxnLst/>
            <a:rect r="r" b="b" t="t" l="l"/>
            <a:pathLst>
              <a:path h="1616080" w="2290507">
                <a:moveTo>
                  <a:pt x="0" y="0"/>
                </a:moveTo>
                <a:lnTo>
                  <a:pt x="2290507" y="0"/>
                </a:lnTo>
                <a:lnTo>
                  <a:pt x="2290507" y="1616080"/>
                </a:lnTo>
                <a:lnTo>
                  <a:pt x="0" y="161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1322" y="746207"/>
            <a:ext cx="5669386" cy="185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5499" spc="-26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Gamma Distribution</a:t>
            </a:r>
          </a:p>
          <a:p>
            <a:pPr algn="l">
              <a:lnSpc>
                <a:spcPts val="478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1322" y="2567387"/>
            <a:ext cx="4129088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Definition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Generalization of Exponential distribution.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Exponential waits for the 1st event.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Gamma waits for the k-th event.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 until 3rd machine breakdown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 until 5th customer arrives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322" y="7861300"/>
            <a:ext cx="4070747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Where: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kk= shape parameter (number of events)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θ = scale parameter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Γ(k) = Gamma function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66516" y="536657"/>
            <a:ext cx="4221837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E9984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Special Case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When k = 1, Gamma becomes Exponential: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Gamma(1,θ)=Exponential(λ=1/θ)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60707" y="7559675"/>
            <a:ext cx="15832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Properties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11989" y="7989890"/>
            <a:ext cx="524387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7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Machines break down at a rate of 2 per week (θ=0.5).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What's the expected time until 3rd breakdown?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Mean=kθ=3×0.5=1.5 weeks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163" y="1337450"/>
            <a:ext cx="6051988" cy="2693296"/>
            <a:chOff x="0" y="0"/>
            <a:chExt cx="8069317" cy="35910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069317" cy="3629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  <a:spcBef>
                  <a:spcPct val="0"/>
                </a:spcBef>
              </a:pPr>
              <a:r>
                <a:rPr lang="en-US" b="true" sz="1964" spc="-96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Definition</a:t>
              </a:r>
            </a:p>
            <a:p>
              <a:pPr algn="l">
                <a:lnSpc>
                  <a:spcPts val="2750"/>
                </a:lnSpc>
                <a:spcBef>
                  <a:spcPct val="0"/>
                </a:spcBef>
              </a:pPr>
              <a:r>
                <a:rPr lang="en-US" sz="1964" spc="-96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Distribution of the sum of squares of independent standard normal variables.</a:t>
              </a:r>
            </a:p>
            <a:p>
              <a:pPr algn="l">
                <a:lnSpc>
                  <a:spcPts val="2750"/>
                </a:lnSpc>
                <a:spcBef>
                  <a:spcPct val="0"/>
                </a:spcBef>
              </a:pPr>
              <a:r>
                <a:rPr lang="en-US" sz="1964" spc="-96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If Z1​,Z2​,...,Zk​ are independent N(0,1):</a:t>
              </a:r>
            </a:p>
            <a:p>
              <a:pPr algn="l">
                <a:lnSpc>
                  <a:spcPts val="2750"/>
                </a:lnSpc>
                <a:spcBef>
                  <a:spcPct val="0"/>
                </a:spcBef>
              </a:pPr>
            </a:p>
            <a:p>
              <a:pPr algn="l">
                <a:lnSpc>
                  <a:spcPts val="2750"/>
                </a:lnSpc>
                <a:spcBef>
                  <a:spcPct val="0"/>
                </a:spcBef>
              </a:pPr>
            </a:p>
            <a:p>
              <a:pPr algn="l">
                <a:lnSpc>
                  <a:spcPts val="2750"/>
                </a:lnSpc>
                <a:spcBef>
                  <a:spcPct val="0"/>
                </a:spcBef>
              </a:pPr>
            </a:p>
            <a:p>
              <a:pPr algn="l">
                <a:lnSpc>
                  <a:spcPts val="2750"/>
                </a:lnSpc>
                <a:spcBef>
                  <a:spcPct val="0"/>
                </a:spcBef>
              </a:pPr>
              <a:r>
                <a:rPr lang="en-US" sz="1964" spc="-96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Where k = degrees of freedom (df)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1999374"/>
              <a:ext cx="4467102" cy="852688"/>
            </a:xfrm>
            <a:custGeom>
              <a:avLst/>
              <a:gdLst/>
              <a:ahLst/>
              <a:cxnLst/>
              <a:rect r="r" b="b" t="t" l="l"/>
              <a:pathLst>
                <a:path h="852688" w="4467102">
                  <a:moveTo>
                    <a:pt x="0" y="0"/>
                  </a:moveTo>
                  <a:lnTo>
                    <a:pt x="4467102" y="0"/>
                  </a:lnTo>
                  <a:lnTo>
                    <a:pt x="4467102" y="852688"/>
                  </a:lnTo>
                  <a:lnTo>
                    <a:pt x="0" y="852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1" r="0" b="-26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348930" y="4311202"/>
            <a:ext cx="7722242" cy="5154597"/>
          </a:xfrm>
          <a:custGeom>
            <a:avLst/>
            <a:gdLst/>
            <a:ahLst/>
            <a:cxnLst/>
            <a:rect r="r" b="b" t="t" l="l"/>
            <a:pathLst>
              <a:path h="5154597" w="7722242">
                <a:moveTo>
                  <a:pt x="0" y="0"/>
                </a:moveTo>
                <a:lnTo>
                  <a:pt x="7722242" y="0"/>
                </a:lnTo>
                <a:lnTo>
                  <a:pt x="7722242" y="5154597"/>
                </a:lnTo>
                <a:lnTo>
                  <a:pt x="0" y="5154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10667" y="266700"/>
            <a:ext cx="666666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 spc="-22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Chi-Square (χ²) Distribution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30636" y="1642250"/>
            <a:ext cx="5240536" cy="170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b="true" sz="1964" spc="-96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Properties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Shape: Skewed to the right (positive skew)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Mean = k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Variance = 2k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As k increases, distribution becomes more symmetric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99583" y="4925835"/>
            <a:ext cx="6671139" cy="1847481"/>
            <a:chOff x="0" y="0"/>
            <a:chExt cx="8894852" cy="24633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38942"/>
              <a:ext cx="8894852" cy="1724366"/>
            </a:xfrm>
            <a:custGeom>
              <a:avLst/>
              <a:gdLst/>
              <a:ahLst/>
              <a:cxnLst/>
              <a:rect r="r" b="b" t="t" l="l"/>
              <a:pathLst>
                <a:path h="1724366" w="8894852">
                  <a:moveTo>
                    <a:pt x="0" y="0"/>
                  </a:moveTo>
                  <a:lnTo>
                    <a:pt x="8894852" y="0"/>
                  </a:lnTo>
                  <a:lnTo>
                    <a:pt x="8894852" y="1724366"/>
                  </a:lnTo>
                  <a:lnTo>
                    <a:pt x="0" y="1724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040935" y="-38100"/>
              <a:ext cx="4812983" cy="428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0"/>
                </a:lnSpc>
                <a:spcBef>
                  <a:spcPct val="0"/>
                </a:spcBef>
              </a:pPr>
              <a:r>
                <a:rPr lang="en-US" b="true" sz="1964" spc="-96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PDF (Probability Density Function)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48146" y="1642250"/>
            <a:ext cx="4929188" cy="170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b="true" sz="1964" spc="-96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It Matters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Used for: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Goodness-of-fit tests (does data fit a distribution?)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Tests of independence (are two factors related?)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Confidence intervals for variance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1587" y="7630306"/>
            <a:ext cx="6756559" cy="135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b="true" sz="1964" spc="-96">
                <a:solidFill>
                  <a:srgbClr val="44986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Research question: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 there a relationship between gender and preference for a product?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1964" spc="-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Chi-square test compares observed vs expected frequencies.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DAHCOdLTgpU</dc:identifier>
  <dcterms:modified xsi:type="dcterms:W3CDTF">2011-08-01T06:04:30Z</dcterms:modified>
  <cp:revision>1</cp:revision>
  <dc:title>chapter 6</dc:title>
</cp:coreProperties>
</file>